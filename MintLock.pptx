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JetBrains Mono" panose="020B060402020202020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Medium" panose="00000600000000000000" pitchFamily="2" charset="0"/>
      <p:regular r:id="rId21"/>
      <p:bold r:id="rId22"/>
      <p:italic r:id="rId23"/>
      <p:boldItalic r:id="rId24"/>
    </p:embeddedFont>
    <p:embeddedFont>
      <p:font typeface="Montserrat SemiBold" panose="000007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483099-304C-4BD9-A5FF-2A92BC29DD26}">
  <a:tblStyle styleId="{70483099-304C-4BD9-A5FF-2A92BC29DD2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1CD486A-9A49-4793-861B-C90412EEF9B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0:00–0:30 — Cover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Predstavi sebe i FairMint u jednoj rečenici.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FairMint garantuje fer otkrivanje informacija na blockchain-u, bez ijednog posrednika.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Hook: korisnici su izgubili preko $1B zbog zloupotrebe informacija.</a:t>
            </a:r>
            <a:endParaRPr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0:30–1:30 — Problem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MEV u jednoj rečenici: botovi vide transakcije pre izvršenja i zloupotrebe to.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Istakni cifru: preko $1B izgubljeno zbog zloupotrebe informacija.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Poveži sa aukcijama i DAO glasanjem — svuda gde je vreme otkrivanja bitno.</a:t>
            </a:r>
            <a:endParaRPr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1:30–2:20 — Rešenje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Metafora: koverta koja se sama otvara tačno kad treba.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Nema posrednika — niko ne čuva ključ.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Nakon isteka roka, otvaranje je automatsko i proverljivo za sve.</a:t>
            </a:r>
            <a:endParaRPr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2:20–3:10 — RSA vs FairMint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Stari pristup (RSA) zahteva da neko generiše i “zaboravi” tajni broj — trusted setup.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Naš pristup (klasne grupe) eliminiše tu tajnu potpuno — niko je nikad nije ni znao.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Ovo je matematička, ne organizaciona garancija.</a:t>
            </a:r>
            <a:endParaRPr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3:10–3:50 — Konkurencija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Prođi tabelu brzo, fokus na FairMint red.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Ključna poruka: jedini smo bez komiteta i bez trusted setupa.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 dirty="0"/>
              <a:t>Ne čitaj tabelu red po red — publika je vidi, samo naglasi razliku.</a:t>
            </a:r>
            <a:endParaRPr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4:50–5:40 — Use case-ovi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Tri glavna tržišta: DeFi/MEV zaštita, zapečaćene aukcije, DAO glasanje.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Ne objasnjavaj svaki detaljno — samo pokaži širinu primene.</a:t>
            </a:r>
            <a:endParaRPr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5:40–6:20 — Tržište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TAM 50+ milijardi $ — ukupna izloženost MEV-u i manipulaciji sekvenciranjem.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SAM 4,2 milijarde $ — realno adresabilan deo (aukcije, DAO, fair-launch).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SOM 85 miliona $ — realno zahvatanje u prve 3 godine.</a:t>
            </a:r>
            <a:endParaRPr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6:20–7:00 — Poslovni model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Tri izvora prihoda: SDK/API naknade, on-chain protokol fee, enterprise licenciranje.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Naglasi da je model već dokazan kod sličnih infrastrukturnih protokola.</a:t>
            </a:r>
            <a:endParaRPr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7:00–7:30 — Tim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Kratko — ko smo i zašto smo pravi tim za ovo.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Naglasi Petnica istraživačko poreklo i tehničku dubinu.</a:t>
            </a:r>
            <a:endParaRPr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3:50–4:50 — Trakcija (NAJVAŽNIJI SLAJD)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Ovo je dokaz da radi, ne samo ideja — daj mu vremena.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Python i Solidity implementacija sa live demo-om na lancu.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Gas optimizovan sa 19,96M na 2,62M — uporedivo sa RSA rešenjima.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Ako ima vremena: ~7.000 kvadriranja u sekundi.</a:t>
            </a:r>
            <a:endParaRPr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hange the text from _FairMint_ to _MintLock_ while keeping the hexagonal icon with equals sign exactly the sa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049" y="-534125"/>
            <a:ext cx="4961900" cy="496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091050" y="2961100"/>
            <a:ext cx="67251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Vreme je jedini ključ.</a:t>
            </a:r>
            <a:endParaRPr sz="30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96950" y="618150"/>
            <a:ext cx="8150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</a:t>
            </a: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231700" y="1767725"/>
            <a:ext cx="1003500" cy="10149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881725" y="1767725"/>
            <a:ext cx="1003500" cy="10149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6440500" y="1767725"/>
            <a:ext cx="1003500" cy="10149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524625" y="1243100"/>
            <a:ext cx="8150100" cy="2007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3696900" y="1192925"/>
            <a:ext cx="1750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>
                <a:solidFill>
                  <a:srgbClr val="CC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Mempool</a:t>
            </a:r>
            <a:endParaRPr sz="2100" b="0" i="0" u="none" strike="noStrike" cap="none">
              <a:solidFill>
                <a:srgbClr val="CC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388600" y="2021225"/>
            <a:ext cx="689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</a:t>
            </a: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084250" y="2021225"/>
            <a:ext cx="689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150</a:t>
            </a: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688650" y="2021225"/>
            <a:ext cx="596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110</a:t>
            </a: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351" y="3904450"/>
            <a:ext cx="1003500" cy="10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400825" y="655850"/>
            <a:ext cx="8150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Koverta koja se sama otvara </a:t>
            </a:r>
            <a:endParaRPr sz="210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907300" y="1470950"/>
            <a:ext cx="1137300" cy="1100700"/>
          </a:xfrm>
          <a:prstGeom prst="roundRect">
            <a:avLst>
              <a:gd name="adj" fmla="val 16667"/>
            </a:avLst>
          </a:prstGeom>
          <a:solidFill>
            <a:srgbClr val="2596BE"/>
          </a:solidFill>
          <a:ln w="9525" cap="flat" cmpd="sng">
            <a:solidFill>
              <a:srgbClr val="2596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7213" y="1493587"/>
            <a:ext cx="1137325" cy="11373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1605550" y="3143775"/>
            <a:ext cx="1137300" cy="11007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rgbClr val="FFE5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3907225" y="3143775"/>
            <a:ext cx="1137300" cy="11007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rgbClr val="FFE5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6208900" y="3143775"/>
            <a:ext cx="1137300" cy="1100700"/>
          </a:xfrm>
          <a:prstGeom prst="ellipse">
            <a:avLst/>
          </a:prstGeom>
          <a:solidFill>
            <a:srgbClr val="FFD966"/>
          </a:solidFill>
          <a:ln w="9525" cap="flat" cmpd="sng">
            <a:solidFill>
              <a:srgbClr val="FFE5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1925" y="3440175"/>
            <a:ext cx="50790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0250" y="3440175"/>
            <a:ext cx="50790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3600" y="3440175"/>
            <a:ext cx="507900" cy="50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5"/>
          <p:cNvCxnSpPr>
            <a:stCxn id="77" idx="7"/>
          </p:cNvCxnSpPr>
          <p:nvPr/>
        </p:nvCxnSpPr>
        <p:spPr>
          <a:xfrm rot="10800000" flipH="1">
            <a:off x="2576296" y="2571769"/>
            <a:ext cx="1476600" cy="733200"/>
          </a:xfrm>
          <a:prstGeom prst="straightConnector1">
            <a:avLst/>
          </a:prstGeom>
          <a:noFill/>
          <a:ln w="19050" cap="flat" cmpd="sng">
            <a:solidFill>
              <a:srgbClr val="FFE59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15"/>
          <p:cNvCxnSpPr>
            <a:stCxn id="78" idx="0"/>
            <a:endCxn id="76" idx="2"/>
          </p:cNvCxnSpPr>
          <p:nvPr/>
        </p:nvCxnSpPr>
        <p:spPr>
          <a:xfrm rot="10800000">
            <a:off x="4475875" y="2630775"/>
            <a:ext cx="0" cy="513000"/>
          </a:xfrm>
          <a:prstGeom prst="straightConnector1">
            <a:avLst/>
          </a:prstGeom>
          <a:noFill/>
          <a:ln w="19050" cap="flat" cmpd="sng">
            <a:solidFill>
              <a:srgbClr val="FFE59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15"/>
          <p:cNvCxnSpPr>
            <a:stCxn id="79" idx="1"/>
          </p:cNvCxnSpPr>
          <p:nvPr/>
        </p:nvCxnSpPr>
        <p:spPr>
          <a:xfrm rot="10800000">
            <a:off x="4960954" y="2566969"/>
            <a:ext cx="1414500" cy="738000"/>
          </a:xfrm>
          <a:prstGeom prst="straightConnector1">
            <a:avLst/>
          </a:prstGeom>
          <a:noFill/>
          <a:ln w="19050" cap="flat" cmpd="sng">
            <a:solidFill>
              <a:srgbClr val="FFE599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/>
        </p:nvSpPr>
        <p:spPr>
          <a:xfrm>
            <a:off x="329550" y="1186500"/>
            <a:ext cx="84849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RSA model (Stari pristup)</a:t>
            </a:r>
            <a:endParaRPr sz="21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dirty="0">
                <a:solidFill>
                  <a:srgbClr val="2596B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MintLock</a:t>
            </a:r>
            <a:r>
              <a:rPr lang="en" sz="2100" b="0" i="0" u="none" strike="noStrike" cap="none" dirty="0">
                <a:solidFill>
                  <a:srgbClr val="2596B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model (Klasne grupe)</a:t>
            </a:r>
            <a:endParaRPr sz="2100" b="0" i="0" u="none" strike="noStrike" cap="none" dirty="0">
              <a:solidFill>
                <a:srgbClr val="2596B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0025" y="1186500"/>
            <a:ext cx="2770500" cy="27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17"/>
          <p:cNvGraphicFramePr/>
          <p:nvPr>
            <p:extLst>
              <p:ext uri="{D42A27DB-BD31-4B8C-83A1-F6EECF244321}">
                <p14:modId xmlns:p14="http://schemas.microsoft.com/office/powerpoint/2010/main" val="171430563"/>
              </p:ext>
            </p:extLst>
          </p:nvPr>
        </p:nvGraphicFramePr>
        <p:xfrm>
          <a:off x="812763" y="1016275"/>
          <a:ext cx="7518475" cy="3125579"/>
        </p:xfrm>
        <a:graphic>
          <a:graphicData uri="http://schemas.openxmlformats.org/drawingml/2006/table">
            <a:tbl>
              <a:tblPr>
                <a:noFill/>
                <a:tableStyleId>{70483099-304C-4BD9-A5FF-2A92BC29DD26}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Projekat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Pristup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Mana / Rizik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1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Shutter Network / Fairblock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Komitet (Grupa čvorova)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Skupo održavanje, rizik od dosluha čvorova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a16z Cicada / Riggs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RSA VDF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Zahteva </a:t>
                      </a:r>
                      <a:r>
                        <a:rPr lang="en" sz="1100" i="1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Trusted Setup</a:t>
                      </a: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 (postoji tajni ključ)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Randamu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Timelock + Komitet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Propali zbog neodrživih troškova infrastrukture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2596BE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MintLock</a:t>
                      </a:r>
                      <a:endParaRPr sz="1400" u="none" strike="noStrike" cap="none" dirty="0">
                        <a:solidFill>
                          <a:srgbClr val="2596BE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2596BE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Klasne Grupe</a:t>
                      </a:r>
                      <a:endParaRPr sz="1400" u="none" strike="noStrike" cap="none">
                        <a:solidFill>
                          <a:srgbClr val="2596BE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2596BE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Bez komiteta, bez tajnog ključa, nulti troškovi održavanja mreže</a:t>
                      </a:r>
                      <a:endParaRPr sz="1400" u="none" strike="noStrike" cap="none" dirty="0">
                        <a:solidFill>
                          <a:srgbClr val="2596BE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2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167700" y="740850"/>
            <a:ext cx="8808600" cy="41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Zapečaćene aukcije (Sealed-Bid Auctions)</a:t>
            </a: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 &amp; MEV Protection</a:t>
            </a:r>
            <a:endParaRPr sz="2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Decentralizovano glasanje (DAO Governance)</a:t>
            </a: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Istraživačko novinarstvo</a:t>
            </a:r>
            <a:endParaRPr sz="2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315675" y="586025"/>
            <a:ext cx="21429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6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Tržište</a:t>
            </a:r>
            <a:endParaRPr sz="26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30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aphicFrame>
        <p:nvGraphicFramePr>
          <p:cNvPr id="107" name="Google Shape;107;p19"/>
          <p:cNvGraphicFramePr/>
          <p:nvPr>
            <p:extLst>
              <p:ext uri="{D42A27DB-BD31-4B8C-83A1-F6EECF244321}">
                <p14:modId xmlns:p14="http://schemas.microsoft.com/office/powerpoint/2010/main" val="1609805408"/>
              </p:ext>
            </p:extLst>
          </p:nvPr>
        </p:nvGraphicFramePr>
        <p:xfrm>
          <a:off x="780375" y="1385150"/>
          <a:ext cx="7984725" cy="2873923"/>
        </p:xfrm>
        <a:graphic>
          <a:graphicData uri="http://schemas.openxmlformats.org/drawingml/2006/table">
            <a:tbl>
              <a:tblPr>
                <a:noFill/>
                <a:tableStyleId>{61CD486A-9A49-4793-861B-C90412EEF9B7}</a:tableStyleId>
              </a:tblPr>
              <a:tblGrid>
                <a:gridCol w="161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5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</a:rPr>
                        <a:t>Segment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</a:rPr>
                        <a:t>Veličina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</a:rPr>
                        <a:t>Problem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</a:rPr>
                        <a:t>Aukcije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1"/>
                          </a:solidFill>
                        </a:rPr>
                        <a:t>$2–4B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Botovi prestižu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</a:rPr>
                        <a:t>DAO glasanje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1"/>
                          </a:solidFill>
                        </a:rPr>
                        <a:t>$25B+ 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5–15% kvar učešća, whale taktiziranje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</a:rPr>
                        <a:t>Fair launches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1"/>
                          </a:solidFill>
                        </a:rPr>
                        <a:t>$6,7B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Botovi i insajderi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</a:rPr>
                        <a:t>MEV zaštita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1"/>
                          </a:solidFill>
                        </a:rPr>
                        <a:t>$4B+ 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lt1"/>
                          </a:solidFill>
                        </a:rPr>
                        <a:t>Ozbiljna eksploatacija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2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/>
        </p:nvSpPr>
        <p:spPr>
          <a:xfrm>
            <a:off x="210900" y="660300"/>
            <a:ext cx="8722200" cy="41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Developer SDK / API Fees</a:t>
            </a: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On-Chain Protocol Fees</a:t>
            </a: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Enterprise Licensing</a:t>
            </a: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/>
        </p:nvSpPr>
        <p:spPr>
          <a:xfrm>
            <a:off x="0" y="580475"/>
            <a:ext cx="8722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Tim </a:t>
            </a:r>
            <a:endParaRPr sz="2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496950" y="1507725"/>
            <a:ext cx="81501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Milica Petković - Business analyst</a:t>
            </a:r>
            <a:endParaRPr sz="21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Aleksandar Todorović - Protocol Lead</a:t>
            </a:r>
            <a:endParaRPr sz="21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Hristos Nenkov - Financial analyst </a:t>
            </a:r>
            <a:r>
              <a:rPr lang="en-US" sz="2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</a:t>
            </a:r>
            <a:r>
              <a:rPr lang="en" sz="2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CEO</a:t>
            </a:r>
            <a:endParaRPr sz="21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/>
        </p:nvSpPr>
        <p:spPr>
          <a:xfrm>
            <a:off x="496950" y="1024800"/>
            <a:ext cx="81501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Trakcija</a:t>
            </a: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>
              <a:solidFill>
                <a:srgbClr val="2596B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>
              <a:solidFill>
                <a:srgbClr val="2596B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Radni prototip </a:t>
            </a:r>
            <a:r>
              <a:rPr lang="en"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</a:t>
            </a:r>
            <a:r>
              <a:rPr lang="en" sz="21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Python + Solidity</a:t>
            </a: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Gas verifikacije: </a:t>
            </a:r>
            <a:r>
              <a:rPr lang="en" sz="21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2,</a:t>
            </a: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5B</a:t>
            </a:r>
            <a:r>
              <a:rPr lang="en" sz="2100" b="1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→ 55M → </a:t>
            </a:r>
            <a:r>
              <a:rPr lang="en" sz="2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300k</a:t>
            </a:r>
            <a:endParaRPr sz="21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560</Words>
  <Application>Microsoft Office PowerPoint</Application>
  <PresentationFormat>On-screen Show (16:9)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 SemiBold</vt:lpstr>
      <vt:lpstr>Montserrat</vt:lpstr>
      <vt:lpstr>Arial</vt:lpstr>
      <vt:lpstr>JetBrains Mono</vt:lpstr>
      <vt:lpstr>Montserrat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Aleksandar Todorovic</cp:lastModifiedBy>
  <cp:revision>4</cp:revision>
  <dcterms:modified xsi:type="dcterms:W3CDTF">2026-08-09T13:15:16Z</dcterms:modified>
</cp:coreProperties>
</file>